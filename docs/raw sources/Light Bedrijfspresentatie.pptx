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7D7"/>
    <a:srgbClr val="98052B"/>
    <a:srgbClr val="787D7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CECB95-D10C-4DA3-AD3D-882343360DD1}" v="1" dt="2025-10-01T08:40:38.2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 Light Personeelsdiensten" userId="e14201b1-f70a-497a-9c31-999c7cdfe036" providerId="ADAL" clId="{896000F4-3FD0-4624-A716-AA5A1FCF42DD}"/>
    <pc:docChg chg="modSld">
      <pc:chgData name="Luke | Light Personeelsdiensten" userId="e14201b1-f70a-497a-9c31-999c7cdfe036" providerId="ADAL" clId="{896000F4-3FD0-4624-A716-AA5A1FCF42DD}" dt="2025-10-01T08:40:38.267" v="0" actId="1076"/>
      <pc:docMkLst>
        <pc:docMk/>
      </pc:docMkLst>
      <pc:sldChg chg="modSp mod">
        <pc:chgData name="Luke | Light Personeelsdiensten" userId="e14201b1-f70a-497a-9c31-999c7cdfe036" providerId="ADAL" clId="{896000F4-3FD0-4624-A716-AA5A1FCF42DD}" dt="2025-10-01T08:40:38.267" v="0" actId="1076"/>
        <pc:sldMkLst>
          <pc:docMk/>
          <pc:sldMk cId="588011240" sldId="256"/>
        </pc:sldMkLst>
        <pc:picChg chg="mod">
          <ac:chgData name="Luke | Light Personeelsdiensten" userId="e14201b1-f70a-497a-9c31-999c7cdfe036" providerId="ADAL" clId="{896000F4-3FD0-4624-A716-AA5A1FCF42DD}" dt="2025-10-01T08:40:38.267" v="0" actId="1076"/>
          <ac:picMkLst>
            <pc:docMk/>
            <pc:sldMk cId="588011240" sldId="256"/>
            <ac:picMk id="10"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nl-NL"/>
              <a:t>Klik om de stijl te bewerken</a:t>
            </a:r>
            <a:endParaRPr lang="en-US"/>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en-US"/>
          </a:p>
        </p:txBody>
      </p:sp>
      <p:sp>
        <p:nvSpPr>
          <p:cNvPr id="4" name="Tijdelijke aanduiding voor datum 3"/>
          <p:cNvSpPr>
            <a:spLocks noGrp="1"/>
          </p:cNvSpPr>
          <p:nvPr>
            <p:ph type="dt" sz="half" idx="10"/>
          </p:nvPr>
        </p:nvSpPr>
        <p:spPr/>
        <p:txBody>
          <a:body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53106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p:cNvSpPr>
            <a:spLocks noGrp="1"/>
          </p:cNvSpPr>
          <p:nvPr>
            <p:ph type="dt" sz="half" idx="10"/>
          </p:nvPr>
        </p:nvSpPr>
        <p:spPr/>
        <p:txBody>
          <a:body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308486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en-US"/>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 om de modelstijlen te bewerken</a:t>
            </a:r>
          </a:p>
        </p:txBody>
      </p:sp>
      <p:sp>
        <p:nvSpPr>
          <p:cNvPr id="4" name="Tijdelijke aanduiding voor datum 3"/>
          <p:cNvSpPr>
            <a:spLocks noGrp="1"/>
          </p:cNvSpPr>
          <p:nvPr>
            <p:ph type="dt" sz="half" idx="10"/>
          </p:nvPr>
        </p:nvSpPr>
        <p:spPr/>
        <p:txBody>
          <a:body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35293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inhoud 2"/>
          <p:cNvSpPr>
            <a:spLocks noGrp="1"/>
          </p:cNvSpPr>
          <p:nvPr>
            <p:ph sz="half" idx="1"/>
          </p:nvPr>
        </p:nvSpPr>
        <p:spPr>
          <a:xfrm>
            <a:off x="838200" y="1825625"/>
            <a:ext cx="5181600" cy="435133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inhoud 3"/>
          <p:cNvSpPr>
            <a:spLocks noGrp="1"/>
          </p:cNvSpPr>
          <p:nvPr>
            <p:ph sz="half" idx="2"/>
          </p:nvPr>
        </p:nvSpPr>
        <p:spPr>
          <a:xfrm>
            <a:off x="6172200" y="1825625"/>
            <a:ext cx="5181600" cy="435133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4"/>
          <p:cNvSpPr>
            <a:spLocks noGrp="1"/>
          </p:cNvSpPr>
          <p:nvPr>
            <p:ph type="dt" sz="half" idx="10"/>
          </p:nvPr>
        </p:nvSpPr>
        <p:spPr/>
        <p:txBody>
          <a:bodyPr/>
          <a:lstStyle/>
          <a:p>
            <a:fld id="{D804950B-709B-4F33-8524-C1F48ECAD09E}" type="datetimeFigureOut">
              <a:rPr lang="en-US" smtClean="0"/>
              <a:t>10/1/2025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742331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en-US"/>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6"/>
          <p:cNvSpPr>
            <a:spLocks noGrp="1"/>
          </p:cNvSpPr>
          <p:nvPr>
            <p:ph type="dt" sz="half" idx="10"/>
          </p:nvPr>
        </p:nvSpPr>
        <p:spPr/>
        <p:txBody>
          <a:bodyPr/>
          <a:lstStyle/>
          <a:p>
            <a:fld id="{D804950B-709B-4F33-8524-C1F48ECAD09E}" type="datetimeFigureOut">
              <a:rPr lang="en-US" smtClean="0"/>
              <a:t>10/1/2025</a:t>
            </a:fld>
            <a:endParaRPr lang="en-US"/>
          </a:p>
        </p:txBody>
      </p:sp>
      <p:sp>
        <p:nvSpPr>
          <p:cNvPr id="8" name="Tijdelijke aanduiding voor voettekst 7"/>
          <p:cNvSpPr>
            <a:spLocks noGrp="1"/>
          </p:cNvSpPr>
          <p:nvPr>
            <p:ph type="ftr" sz="quarter" idx="11"/>
          </p:nvPr>
        </p:nvSpPr>
        <p:spPr/>
        <p:txBody>
          <a:bodyPr/>
          <a:lstStyle/>
          <a:p>
            <a:endParaRPr lang="en-US"/>
          </a:p>
        </p:txBody>
      </p:sp>
      <p:sp>
        <p:nvSpPr>
          <p:cNvPr id="9" name="Tijdelijke aanduiding voor dianummer 8"/>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4283226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datum 2"/>
          <p:cNvSpPr>
            <a:spLocks noGrp="1"/>
          </p:cNvSpPr>
          <p:nvPr>
            <p:ph type="dt" sz="half" idx="10"/>
          </p:nvPr>
        </p:nvSpPr>
        <p:spPr/>
        <p:txBody>
          <a:bodyPr/>
          <a:lstStyle/>
          <a:p>
            <a:fld id="{D804950B-709B-4F33-8524-C1F48ECAD09E}" type="datetimeFigureOut">
              <a:rPr lang="en-US" smtClean="0"/>
              <a:t>10/1/2025</a:t>
            </a:fld>
            <a:endParaRPr lang="en-US"/>
          </a:p>
        </p:txBody>
      </p:sp>
      <p:sp>
        <p:nvSpPr>
          <p:cNvPr id="4" name="Tijdelijke aanduiding voor voettekst 3"/>
          <p:cNvSpPr>
            <a:spLocks noGrp="1"/>
          </p:cNvSpPr>
          <p:nvPr>
            <p:ph type="ftr" sz="quarter" idx="11"/>
          </p:nvPr>
        </p:nvSpPr>
        <p:spPr/>
        <p:txBody>
          <a:bodyPr/>
          <a:lstStyle/>
          <a:p>
            <a:endParaRPr lang="en-US"/>
          </a:p>
        </p:txBody>
      </p:sp>
      <p:sp>
        <p:nvSpPr>
          <p:cNvPr id="5" name="Tijdelijke aanduiding voor dianummer 4"/>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883134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D804950B-709B-4F33-8524-C1F48ECAD09E}" type="datetimeFigureOut">
              <a:rPr lang="en-US" smtClean="0"/>
              <a:t>10/1/2025</a:t>
            </a:fld>
            <a:endParaRPr lang="en-US"/>
          </a:p>
        </p:txBody>
      </p:sp>
      <p:sp>
        <p:nvSpPr>
          <p:cNvPr id="3" name="Tijdelijke aanduiding voor voettekst 2"/>
          <p:cNvSpPr>
            <a:spLocks noGrp="1"/>
          </p:cNvSpPr>
          <p:nvPr>
            <p:ph type="ftr" sz="quarter" idx="11"/>
          </p:nvPr>
        </p:nvSpPr>
        <p:spPr/>
        <p:txBody>
          <a:bodyPr/>
          <a:lstStyle/>
          <a:p>
            <a:endParaRPr lang="en-US"/>
          </a:p>
        </p:txBody>
      </p:sp>
      <p:sp>
        <p:nvSpPr>
          <p:cNvPr id="4" name="Tijdelijke aanduiding voor dianummer 3"/>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302464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en-US"/>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D804950B-709B-4F33-8524-C1F48ECAD09E}" type="datetimeFigureOut">
              <a:rPr lang="en-US" smtClean="0"/>
              <a:t>10/1/2025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18795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en-US"/>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D804950B-709B-4F33-8524-C1F48ECAD09E}" type="datetimeFigureOut">
              <a:rPr lang="en-US" smtClean="0"/>
              <a:t>10/1/2025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3482804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p:cNvSpPr>
            <a:spLocks noGrp="1"/>
          </p:cNvSpPr>
          <p:nvPr>
            <p:ph type="dt" sz="half" idx="10"/>
          </p:nvPr>
        </p:nvSpPr>
        <p:spPr/>
        <p:txBody>
          <a:body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2664760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p:cNvSpPr>
            <a:spLocks noGrp="1"/>
          </p:cNvSpPr>
          <p:nvPr>
            <p:ph type="dt" sz="half" idx="10"/>
          </p:nvPr>
        </p:nvSpPr>
        <p:spPr/>
        <p:txBody>
          <a:body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0E8318FD-F19E-4E20-82C6-6DE3DA6B019B}" type="slidenum">
              <a:rPr lang="en-US" smtClean="0"/>
              <a:t>‹#›</a:t>
            </a:fld>
            <a:endParaRPr lang="en-US"/>
          </a:p>
        </p:txBody>
      </p:sp>
    </p:spTree>
    <p:extLst>
      <p:ext uri="{BB962C8B-B14F-4D97-AF65-F5344CB8AC3E}">
        <p14:creationId xmlns:p14="http://schemas.microsoft.com/office/powerpoint/2010/main" val="39727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de stijl te bewerken</a:t>
            </a:r>
            <a:endParaRPr lang="en-US"/>
          </a:p>
        </p:txBody>
      </p:sp>
      <p:sp>
        <p:nvSpPr>
          <p:cNvPr id="3" name="Tijdelijke aanduiding vo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04950B-709B-4F33-8524-C1F48ECAD09E}" type="datetimeFigureOut">
              <a:rPr lang="en-US" smtClean="0"/>
              <a:t>10/1/2025</a:t>
            </a:fld>
            <a:endParaRPr lang="en-US"/>
          </a:p>
        </p:txBody>
      </p:sp>
      <p:sp>
        <p:nvSpPr>
          <p:cNvPr id="5" name="Tijdelijke aanduiding voor voet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Tijdelijke aanduiding voor dia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8318FD-F19E-4E20-82C6-6DE3DA6B019B}" type="slidenum">
              <a:rPr lang="en-US" smtClean="0"/>
              <a:t>‹#›</a:t>
            </a:fld>
            <a:endParaRPr lang="en-US"/>
          </a:p>
        </p:txBody>
      </p:sp>
    </p:spTree>
    <p:extLst>
      <p:ext uri="{BB962C8B-B14F-4D97-AF65-F5344CB8AC3E}">
        <p14:creationId xmlns:p14="http://schemas.microsoft.com/office/powerpoint/2010/main" val="2131038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mailto:info@lightpersoneelsdiensten.nl"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09551"/>
            <a:ext cx="12192000" cy="2540000"/>
          </a:xfrm>
          <a:prstGeom prst="rect">
            <a:avLst/>
          </a:prstGeom>
          <a:effectLst>
            <a:outerShdw blurRad="50800" dist="50800" dir="5400000" algn="ctr" rotWithShape="0">
              <a:schemeClr val="bg2">
                <a:lumMod val="25000"/>
              </a:schemeClr>
            </a:outerShdw>
          </a:effectLst>
        </p:spPr>
      </p:pic>
      <p:sp>
        <p:nvSpPr>
          <p:cNvPr id="6" name="Tekstvak 5"/>
          <p:cNvSpPr txBox="1"/>
          <p:nvPr/>
        </p:nvSpPr>
        <p:spPr>
          <a:xfrm>
            <a:off x="1192064" y="3939611"/>
            <a:ext cx="3995233" cy="461665"/>
          </a:xfrm>
          <a:prstGeom prst="rect">
            <a:avLst/>
          </a:prstGeom>
          <a:gradFill flip="none" rotWithShape="1">
            <a:gsLst>
              <a:gs pos="0">
                <a:schemeClr val="bg1">
                  <a:lumMod val="50000"/>
                  <a:alpha val="54000"/>
                </a:schemeClr>
              </a:gs>
              <a:gs pos="50000">
                <a:schemeClr val="dk1">
                  <a:lumMod val="105000"/>
                  <a:satMod val="103000"/>
                  <a:tint val="73000"/>
                </a:schemeClr>
              </a:gs>
              <a:gs pos="100000">
                <a:schemeClr val="dk1">
                  <a:lumMod val="105000"/>
                  <a:satMod val="109000"/>
                  <a:tint val="81000"/>
                </a:schemeClr>
              </a:gs>
            </a:gsLst>
            <a:lin ang="10800000" scaled="1"/>
            <a:tileRect/>
          </a:gradFill>
          <a:ln>
            <a:solidFill>
              <a:srgbClr val="787D7F"/>
            </a:solidFill>
          </a:ln>
          <a:effectLst>
            <a:outerShdw blurRad="50800" dist="50800" dir="5400000" algn="ctr" rotWithShape="0">
              <a:schemeClr val="bg2">
                <a:lumMod val="25000"/>
              </a:scheme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nl-NL" sz="2400">
                <a:solidFill>
                  <a:schemeClr val="bg1"/>
                </a:solidFill>
                <a:latin typeface="Cambria" panose="02040503050406030204" pitchFamily="18" charset="0"/>
              </a:rPr>
              <a:t>Personeelsdiensten Op Maat </a:t>
            </a:r>
            <a:endParaRPr lang="en-US" sz="2400">
              <a:solidFill>
                <a:schemeClr val="bg1"/>
              </a:solidFill>
              <a:latin typeface="Cambria" panose="02040503050406030204" pitchFamily="18" charset="0"/>
            </a:endParaRPr>
          </a:p>
        </p:txBody>
      </p:sp>
      <p:pic>
        <p:nvPicPr>
          <p:cNvPr id="10" name="Afbeelding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2064" y="2581293"/>
            <a:ext cx="2875734" cy="910043"/>
          </a:xfrm>
          <a:prstGeom prst="rect">
            <a:avLst/>
          </a:prstGeom>
        </p:spPr>
      </p:pic>
    </p:spTree>
    <p:extLst>
      <p:ext uri="{BB962C8B-B14F-4D97-AF65-F5344CB8AC3E}">
        <p14:creationId xmlns:p14="http://schemas.microsoft.com/office/powerpoint/2010/main" val="58801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http://www.lightpersoneelsdiensten.nl/wp-content/uploads/2016/02/dienste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399" y="1444044"/>
            <a:ext cx="3670479" cy="4512373"/>
          </a:xfrm>
          <a:prstGeom prst="rect">
            <a:avLst/>
          </a:prstGeom>
          <a:noFill/>
          <a:effectLst>
            <a:outerShdw blurRad="50800" dist="50800" dir="5400000" algn="ctr" rotWithShape="0">
              <a:schemeClr val="bg2">
                <a:lumMod val="25000"/>
              </a:schemeClr>
            </a:outerShdw>
          </a:effectLst>
          <a:extLst>
            <a:ext uri="{909E8E84-426E-40DD-AFC4-6F175D3DCCD1}">
              <a14:hiddenFill xmlns:a14="http://schemas.microsoft.com/office/drawing/2010/main">
                <a:solidFill>
                  <a:srgbClr val="FFFFFF"/>
                </a:solidFill>
              </a14:hiddenFill>
            </a:ext>
          </a:extLst>
        </p:spPr>
      </p:pic>
      <p:sp>
        <p:nvSpPr>
          <p:cNvPr id="16" name="Rechthoek 15"/>
          <p:cNvSpPr/>
          <p:nvPr/>
        </p:nvSpPr>
        <p:spPr>
          <a:xfrm>
            <a:off x="5227174" y="1439172"/>
            <a:ext cx="2129108" cy="461665"/>
          </a:xfrm>
          <a:prstGeom prst="rect">
            <a:avLst/>
          </a:prstGeom>
          <a:noFill/>
          <a:effectLst>
            <a:outerShdw blurRad="50800" dist="38100" dir="8100000" algn="tr" rotWithShape="0">
              <a:prstClr val="black">
                <a:alpha val="40000"/>
              </a:prstClr>
            </a:outerShdw>
          </a:effectLst>
        </p:spPr>
        <p:txBody>
          <a:bodyPr wrap="none" lIns="91440" tIns="45720" rIns="91440" bIns="45720">
            <a:spAutoFit/>
          </a:bodyPr>
          <a:lstStyle/>
          <a:p>
            <a:pPr algn="ctr"/>
            <a:r>
              <a:rPr lang="nl-NL" sz="2400" b="1" cap="none" spc="50">
                <a:ln w="0">
                  <a:solidFill>
                    <a:srgbClr val="787D7F"/>
                  </a:solidFill>
                </a:ln>
                <a:solidFill>
                  <a:schemeClr val="bg1"/>
                </a:solidFill>
                <a:effectLst>
                  <a:innerShdw blurRad="63500" dist="50800" dir="13500000">
                    <a:srgbClr val="000000">
                      <a:alpha val="50000"/>
                    </a:srgbClr>
                  </a:innerShdw>
                </a:effectLst>
              </a:rPr>
              <a:t>Office</a:t>
            </a:r>
            <a:r>
              <a:rPr lang="nl-NL" sz="2400" b="1" cap="none" spc="50">
                <a:ln w="0"/>
                <a:solidFill>
                  <a:schemeClr val="bg1"/>
                </a:solidFill>
                <a:effectLst>
                  <a:innerShdw blurRad="63500" dist="50800" dir="13500000">
                    <a:srgbClr val="000000">
                      <a:alpha val="50000"/>
                    </a:srgbClr>
                  </a:innerShdw>
                </a:effectLst>
              </a:rPr>
              <a:t> </a:t>
            </a:r>
            <a:r>
              <a:rPr lang="nl-NL" sz="2400" b="1" cap="none" spc="50">
                <a:ln w="0">
                  <a:solidFill>
                    <a:srgbClr val="787D7F"/>
                  </a:solidFill>
                </a:ln>
                <a:solidFill>
                  <a:schemeClr val="bg1"/>
                </a:solidFill>
                <a:effectLst>
                  <a:innerShdw blurRad="63500" dist="50800" dir="13500000">
                    <a:srgbClr val="000000">
                      <a:alpha val="50000"/>
                    </a:srgbClr>
                  </a:innerShdw>
                </a:effectLst>
              </a:rPr>
              <a:t>Support</a:t>
            </a:r>
          </a:p>
        </p:txBody>
      </p:sp>
      <p:sp>
        <p:nvSpPr>
          <p:cNvPr id="20" name="Rechthoek 19"/>
          <p:cNvSpPr/>
          <p:nvPr/>
        </p:nvSpPr>
        <p:spPr>
          <a:xfrm>
            <a:off x="5227174" y="4040852"/>
            <a:ext cx="1771639" cy="461665"/>
          </a:xfrm>
          <a:prstGeom prst="rect">
            <a:avLst/>
          </a:prstGeom>
          <a:noFill/>
          <a:effectLst>
            <a:outerShdw blurRad="50800" dist="38100" dir="8100000" algn="tr" rotWithShape="0">
              <a:prstClr val="black">
                <a:alpha val="40000"/>
              </a:prstClr>
            </a:outerShdw>
          </a:effectLst>
        </p:spPr>
        <p:txBody>
          <a:bodyPr wrap="none" lIns="91440" tIns="45720" rIns="91440" bIns="45720">
            <a:spAutoFit/>
          </a:bodyPr>
          <a:lstStyle/>
          <a:p>
            <a:pPr algn="ctr"/>
            <a:r>
              <a:rPr lang="nl-NL" sz="2400" b="1" cap="none" spc="50">
                <a:ln w="0">
                  <a:solidFill>
                    <a:srgbClr val="787D7F"/>
                  </a:solidFill>
                </a:ln>
                <a:solidFill>
                  <a:schemeClr val="bg1"/>
                </a:solidFill>
                <a:effectLst>
                  <a:innerShdw blurRad="63500" dist="50800" dir="13500000">
                    <a:srgbClr val="000000">
                      <a:alpha val="50000"/>
                    </a:srgbClr>
                  </a:innerShdw>
                </a:effectLst>
              </a:rPr>
              <a:t>HRM</a:t>
            </a:r>
            <a:r>
              <a:rPr lang="nl-NL" sz="2400" b="1" cap="none" spc="50">
                <a:ln w="0"/>
                <a:solidFill>
                  <a:schemeClr val="bg1"/>
                </a:solidFill>
                <a:effectLst>
                  <a:innerShdw blurRad="63500" dist="50800" dir="13500000">
                    <a:srgbClr val="000000">
                      <a:alpha val="50000"/>
                    </a:srgbClr>
                  </a:innerShdw>
                </a:effectLst>
              </a:rPr>
              <a:t> </a:t>
            </a:r>
            <a:r>
              <a:rPr lang="nl-NL" sz="2400" b="1" cap="none" spc="50">
                <a:ln w="0">
                  <a:solidFill>
                    <a:srgbClr val="787D7F"/>
                  </a:solidFill>
                </a:ln>
                <a:solidFill>
                  <a:schemeClr val="bg1"/>
                </a:solidFill>
                <a:effectLst>
                  <a:innerShdw blurRad="63500" dist="50800" dir="13500000">
                    <a:srgbClr val="000000">
                      <a:alpha val="50000"/>
                    </a:srgbClr>
                  </a:innerShdw>
                </a:effectLst>
              </a:rPr>
              <a:t>advies</a:t>
            </a:r>
          </a:p>
        </p:txBody>
      </p:sp>
      <p:sp>
        <p:nvSpPr>
          <p:cNvPr id="17" name="Rechthoek 16"/>
          <p:cNvSpPr/>
          <p:nvPr/>
        </p:nvSpPr>
        <p:spPr>
          <a:xfrm>
            <a:off x="5227174" y="1832071"/>
            <a:ext cx="5395247" cy="1815882"/>
          </a:xfrm>
          <a:prstGeom prst="rect">
            <a:avLst/>
          </a:prstGeom>
          <a:effectLst/>
        </p:spPr>
        <p:txBody>
          <a:bodyPr wrap="square">
            <a:spAutoFit/>
          </a:bodyPr>
          <a:lstStyle/>
          <a:p>
            <a:r>
              <a:rPr lang="nl-NL" sz="1600">
                <a:solidFill>
                  <a:schemeClr val="bg2">
                    <a:lumMod val="25000"/>
                  </a:schemeClr>
                </a:solidFill>
                <a:effectLst/>
              </a:rPr>
              <a:t>Wij bieden kleine eenmanszaken tot middelgrote organisaties advies en ondersteuning aan op maat. Zo bieden wij incidenteel administratieve ondersteuning, zoals bij vakanties of ziekte van vast kantoorpersoneel maar ook structureel administratieve ondersteuning, denk hierbij aan algemene managementondersteuning en begeleiding van het HRM beleid, salarisadministratie en werkhervattingstrajecten.</a:t>
            </a:r>
            <a:endParaRPr lang="en-US" sz="1600">
              <a:solidFill>
                <a:schemeClr val="bg2">
                  <a:lumMod val="25000"/>
                </a:schemeClr>
              </a:solidFill>
            </a:endParaRPr>
          </a:p>
        </p:txBody>
      </p:sp>
      <p:sp>
        <p:nvSpPr>
          <p:cNvPr id="19" name="Rechthoek 18"/>
          <p:cNvSpPr/>
          <p:nvPr/>
        </p:nvSpPr>
        <p:spPr>
          <a:xfrm>
            <a:off x="5227173" y="4502517"/>
            <a:ext cx="5395247" cy="1323439"/>
          </a:xfrm>
          <a:prstGeom prst="rect">
            <a:avLst/>
          </a:prstGeom>
          <a:scene3d>
            <a:camera prst="obliqueTopRight"/>
            <a:lightRig rig="threePt" dir="t"/>
          </a:scene3d>
        </p:spPr>
        <p:txBody>
          <a:bodyPr wrap="square">
            <a:spAutoFit/>
          </a:bodyPr>
          <a:lstStyle/>
          <a:p>
            <a:r>
              <a:rPr lang="nl-NL" sz="1600">
                <a:solidFill>
                  <a:schemeClr val="tx1">
                    <a:lumMod val="85000"/>
                    <a:lumOff val="15000"/>
                  </a:schemeClr>
                </a:solidFill>
                <a:effectLst/>
              </a:rPr>
              <a:t>Wi</a:t>
            </a:r>
            <a:r>
              <a:rPr lang="nl-NL" sz="1600">
                <a:solidFill>
                  <a:schemeClr val="bg2">
                    <a:lumMod val="25000"/>
                  </a:schemeClr>
                </a:solidFill>
                <a:effectLst/>
              </a:rPr>
              <a:t>j</a:t>
            </a:r>
            <a:r>
              <a:rPr lang="nl-NL" sz="1600">
                <a:solidFill>
                  <a:schemeClr val="tx1">
                    <a:lumMod val="85000"/>
                    <a:lumOff val="15000"/>
                  </a:schemeClr>
                </a:solidFill>
                <a:effectLst/>
              </a:rPr>
              <a:t> analyseren de bestaande personeelsprocessen, maken deze voor u inzichtelijk en geven u adviezen over nieuwe of aanvullende mogelijkheden. Hiermee creëren wij niet alleen duidelijkheid maar streven wij naar een correcte, efficiënte werkwijze die zorgt voor een aanzienlijke kostenbesparing.</a:t>
            </a:r>
            <a:endParaRPr lang="en-US" sz="1600">
              <a:solidFill>
                <a:schemeClr val="tx1">
                  <a:lumMod val="85000"/>
                  <a:lumOff val="15000"/>
                </a:schemeClr>
              </a:solidFill>
            </a:endParaRPr>
          </a:p>
        </p:txBody>
      </p:sp>
      <p:sp>
        <p:nvSpPr>
          <p:cNvPr id="31" name="Rectangle 4"/>
          <p:cNvSpPr>
            <a:spLocks noChangeArrowheads="1"/>
          </p:cNvSpPr>
          <p:nvPr/>
        </p:nvSpPr>
        <p:spPr bwMode="auto">
          <a:xfrm flipV="1">
            <a:off x="1419506" y="960415"/>
            <a:ext cx="9939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6"/>
          <p:cNvSpPr>
            <a:spLocks noChangeArrowheads="1"/>
          </p:cNvSpPr>
          <p:nvPr/>
        </p:nvSpPr>
        <p:spPr bwMode="auto">
          <a:xfrm flipV="1">
            <a:off x="1250401" y="485919"/>
            <a:ext cx="824824"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a:ln>
                <a:noFill/>
              </a:ln>
              <a:solidFill>
                <a:srgbClr val="606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8"/>
          <p:cNvSpPr>
            <a:spLocks noChangeArrowheads="1"/>
          </p:cNvSpPr>
          <p:nvPr/>
        </p:nvSpPr>
        <p:spPr bwMode="auto">
          <a:xfrm flipV="1">
            <a:off x="1250399" y="944536"/>
            <a:ext cx="1234926" cy="457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31683" tIns="-196788" rIns="331683" bIns="0" numCol="1" anchor="ctr" anchorCtr="0" compatLnSpc="1">
            <a:prstTxWarp prst="textNoShape">
              <a:avLst/>
            </a:prstTxWarp>
            <a:spAutoFit/>
          </a:bodyPr>
          <a:lstStyle/>
          <a:p>
            <a:endParaRPr lang="en-US"/>
          </a:p>
        </p:txBody>
      </p:sp>
      <p:pic>
        <p:nvPicPr>
          <p:cNvPr id="34" name="Afbeelding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0400" y="506374"/>
            <a:ext cx="1163037" cy="368050"/>
          </a:xfrm>
          <a:prstGeom prst="rect">
            <a:avLst/>
          </a:prstGeom>
        </p:spPr>
      </p:pic>
    </p:spTree>
    <p:extLst>
      <p:ext uri="{BB962C8B-B14F-4D97-AF65-F5344CB8AC3E}">
        <p14:creationId xmlns:p14="http://schemas.microsoft.com/office/powerpoint/2010/main" val="3794505661"/>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http://www.lightpersoneelsdiensten.nl/wp-content/uploads/2016/02/dienste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5325" y="1236872"/>
            <a:ext cx="3665311" cy="4581640"/>
          </a:xfrm>
          <a:prstGeom prst="rect">
            <a:avLst/>
          </a:prstGeom>
          <a:noFill/>
          <a:effectLst>
            <a:outerShdw blurRad="50800" dist="50800" dir="5400000" algn="ctr" rotWithShape="0">
              <a:schemeClr val="bg2">
                <a:lumMod val="25000"/>
              </a:schemeClr>
            </a:outerShdw>
          </a:effectLst>
          <a:extLst>
            <a:ext uri="{909E8E84-426E-40DD-AFC4-6F175D3DCCD1}">
              <a14:hiddenFill xmlns:a14="http://schemas.microsoft.com/office/drawing/2010/main">
                <a:solidFill>
                  <a:srgbClr val="FFFFFF"/>
                </a:solidFill>
              </a14:hiddenFill>
            </a:ext>
          </a:extLst>
        </p:spPr>
      </p:pic>
      <p:sp>
        <p:nvSpPr>
          <p:cNvPr id="10" name="Rectangle 2"/>
          <p:cNvSpPr>
            <a:spLocks noChangeArrowheads="1"/>
          </p:cNvSpPr>
          <p:nvPr/>
        </p:nvSpPr>
        <p:spPr bwMode="auto">
          <a:xfrm flipV="1">
            <a:off x="1837202" y="1187658"/>
            <a:ext cx="116303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606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4"/>
          <p:cNvSpPr>
            <a:spLocks noChangeArrowheads="1"/>
          </p:cNvSpPr>
          <p:nvPr/>
        </p:nvSpPr>
        <p:spPr bwMode="auto">
          <a:xfrm flipV="1">
            <a:off x="1466903" y="1051373"/>
            <a:ext cx="9939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6"/>
          <p:cNvSpPr>
            <a:spLocks noChangeArrowheads="1"/>
          </p:cNvSpPr>
          <p:nvPr/>
        </p:nvSpPr>
        <p:spPr bwMode="auto">
          <a:xfrm flipV="1">
            <a:off x="1297798" y="576877"/>
            <a:ext cx="824824"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a:ln>
                <a:noFill/>
              </a:ln>
              <a:solidFill>
                <a:srgbClr val="606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8"/>
          <p:cNvSpPr>
            <a:spLocks noChangeArrowheads="1"/>
          </p:cNvSpPr>
          <p:nvPr/>
        </p:nvSpPr>
        <p:spPr bwMode="auto">
          <a:xfrm flipV="1">
            <a:off x="1297796" y="1035494"/>
            <a:ext cx="1234926" cy="457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31683" tIns="-196788" rIns="331683" bIns="0" numCol="1" anchor="ctr" anchorCtr="0" compatLnSpc="1">
            <a:prstTxWarp prst="textNoShape">
              <a:avLst/>
            </a:prstTxWarp>
            <a:spAutoFit/>
          </a:bodyPr>
          <a:lstStyle/>
          <a:p>
            <a:endParaRPr lang="en-US"/>
          </a:p>
        </p:txBody>
      </p:sp>
      <p:pic>
        <p:nvPicPr>
          <p:cNvPr id="14" name="Afbeelding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797" y="597332"/>
            <a:ext cx="1163037" cy="368050"/>
          </a:xfrm>
          <a:prstGeom prst="rect">
            <a:avLst/>
          </a:prstGeom>
        </p:spPr>
      </p:pic>
      <p:sp>
        <p:nvSpPr>
          <p:cNvPr id="15" name="Rechthoek 14"/>
          <p:cNvSpPr/>
          <p:nvPr/>
        </p:nvSpPr>
        <p:spPr>
          <a:xfrm>
            <a:off x="1224146" y="2026751"/>
            <a:ext cx="5552053" cy="2308324"/>
          </a:xfrm>
          <a:prstGeom prst="rect">
            <a:avLst/>
          </a:prstGeom>
        </p:spPr>
        <p:txBody>
          <a:bodyPr wrap="square">
            <a:spAutoFit/>
          </a:bodyPr>
          <a:lstStyle/>
          <a:p>
            <a:r>
              <a:rPr lang="nl-NL" sz="1600">
                <a:solidFill>
                  <a:schemeClr val="tx1">
                    <a:lumMod val="85000"/>
                    <a:lumOff val="15000"/>
                  </a:schemeClr>
                </a:solidFill>
                <a:effectLst/>
              </a:rPr>
              <a:t>Met grote zorgvuldigheid stellen wij de personeelsdossiers samen, maken wij de contracten op en verlonen wij  door u geselecteerde medewerkers. Light personeelsdiensten wordt juridisch werkgever en neemt dus niet alleen de arbeidsrechtelijke risico’s van u over maar verlicht u op deze manier van alle administratieve handelingen.</a:t>
            </a:r>
          </a:p>
          <a:p>
            <a:r>
              <a:rPr lang="nl-NL" sz="1600">
                <a:solidFill>
                  <a:schemeClr val="tx1">
                    <a:lumMod val="85000"/>
                    <a:lumOff val="15000"/>
                  </a:schemeClr>
                </a:solidFill>
                <a:effectLst/>
              </a:rPr>
              <a:t>Natuurlijk zorgen wij ervoor dat alle wekelijks of maandelijks gewerkte uren van uw personeel en de kosten hiervan inzichtelijk worden aangeleverd.</a:t>
            </a:r>
          </a:p>
        </p:txBody>
      </p:sp>
      <p:sp>
        <p:nvSpPr>
          <p:cNvPr id="16" name="Rechthoek 15"/>
          <p:cNvSpPr/>
          <p:nvPr/>
        </p:nvSpPr>
        <p:spPr>
          <a:xfrm>
            <a:off x="1224146" y="1464657"/>
            <a:ext cx="1100622" cy="461665"/>
          </a:xfrm>
          <a:prstGeom prst="rect">
            <a:avLst/>
          </a:prstGeom>
          <a:effectLst>
            <a:outerShdw blurRad="50800" dist="38100" dir="8100000" algn="tr" rotWithShape="0">
              <a:prstClr val="black">
                <a:alpha val="50000"/>
              </a:prstClr>
            </a:outerShdw>
          </a:effectLst>
        </p:spPr>
        <p:txBody>
          <a:bodyPr wrap="none">
            <a:spAutoFit/>
          </a:bodyPr>
          <a:lstStyle/>
          <a:p>
            <a:pPr algn="ctr"/>
            <a:r>
              <a:rPr lang="nl-NL" sz="2400" b="1" cap="none" spc="50">
                <a:ln w="0">
                  <a:solidFill>
                    <a:srgbClr val="787D7F"/>
                  </a:solidFill>
                </a:ln>
                <a:solidFill>
                  <a:schemeClr val="bg1"/>
                </a:solidFill>
                <a:effectLst>
                  <a:innerShdw blurRad="63500" dist="50800" dir="13500000">
                    <a:srgbClr val="000000">
                      <a:alpha val="50000"/>
                    </a:srgbClr>
                  </a:innerShdw>
                </a:effectLst>
              </a:rPr>
              <a:t>Payroll</a:t>
            </a:r>
          </a:p>
        </p:txBody>
      </p:sp>
    </p:spTree>
    <p:extLst>
      <p:ext uri="{BB962C8B-B14F-4D97-AF65-F5344CB8AC3E}">
        <p14:creationId xmlns:p14="http://schemas.microsoft.com/office/powerpoint/2010/main" val="201409644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hoek 4"/>
          <p:cNvSpPr/>
          <p:nvPr/>
        </p:nvSpPr>
        <p:spPr>
          <a:xfrm>
            <a:off x="5856583" y="3894504"/>
            <a:ext cx="6096000" cy="2308324"/>
          </a:xfrm>
          <a:prstGeom prst="rect">
            <a:avLst/>
          </a:prstGeom>
        </p:spPr>
        <p:txBody>
          <a:bodyPr>
            <a:spAutoFit/>
          </a:bodyPr>
          <a:lstStyle/>
          <a:p>
            <a:endParaRPr lang="nl-NL" sz="1600" b="1">
              <a:solidFill>
                <a:schemeClr val="bg2">
                  <a:lumMod val="25000"/>
                </a:schemeClr>
              </a:solidFill>
              <a:effectLst/>
            </a:endParaRPr>
          </a:p>
          <a:p>
            <a:endParaRPr lang="nl-NL" sz="1600" b="1">
              <a:solidFill>
                <a:schemeClr val="bg2">
                  <a:lumMod val="25000"/>
                </a:schemeClr>
              </a:solidFill>
              <a:effectLst/>
            </a:endParaRPr>
          </a:p>
          <a:p>
            <a:r>
              <a:rPr lang="nl-NL" sz="1600" b="1">
                <a:solidFill>
                  <a:schemeClr val="bg2">
                    <a:lumMod val="25000"/>
                  </a:schemeClr>
                </a:solidFill>
                <a:effectLst/>
              </a:rPr>
              <a:t>De voordelen op een rij:</a:t>
            </a:r>
          </a:p>
          <a:p>
            <a:pPr>
              <a:buFont typeface="Arial" panose="020B0604020202020204" pitchFamily="34" charset="0"/>
              <a:buChar char="•"/>
            </a:pPr>
            <a:r>
              <a:rPr lang="nl-NL" sz="1600">
                <a:solidFill>
                  <a:schemeClr val="bg2">
                    <a:lumMod val="25000"/>
                  </a:schemeClr>
                </a:solidFill>
                <a:effectLst/>
              </a:rPr>
              <a:t>78 weken optimale flexibiliteit</a:t>
            </a:r>
          </a:p>
          <a:p>
            <a:pPr>
              <a:buFont typeface="Arial" panose="020B0604020202020204" pitchFamily="34" charset="0"/>
              <a:buChar char="•"/>
            </a:pPr>
            <a:r>
              <a:rPr lang="nl-NL" sz="1600">
                <a:solidFill>
                  <a:schemeClr val="bg2">
                    <a:lumMod val="25000"/>
                  </a:schemeClr>
                </a:solidFill>
                <a:effectLst/>
              </a:rPr>
              <a:t>Alleen facturatie voor de gewerkte uren die u ons aanlevert</a:t>
            </a:r>
          </a:p>
          <a:p>
            <a:pPr>
              <a:buFont typeface="Arial" panose="020B0604020202020204" pitchFamily="34" charset="0"/>
              <a:buChar char="•"/>
            </a:pPr>
            <a:r>
              <a:rPr lang="nl-NL" sz="1600">
                <a:solidFill>
                  <a:schemeClr val="bg2">
                    <a:lumMod val="25000"/>
                  </a:schemeClr>
                </a:solidFill>
                <a:effectLst/>
              </a:rPr>
              <a:t>Geen uitbetaling van vakantiedaguren en vakantiegeld</a:t>
            </a:r>
          </a:p>
          <a:p>
            <a:pPr>
              <a:buFont typeface="Arial" panose="020B0604020202020204" pitchFamily="34" charset="0"/>
              <a:buChar char="•"/>
            </a:pPr>
            <a:r>
              <a:rPr lang="nl-NL" sz="1600">
                <a:solidFill>
                  <a:schemeClr val="bg2">
                    <a:lumMod val="25000"/>
                  </a:schemeClr>
                </a:solidFill>
                <a:effectLst/>
              </a:rPr>
              <a:t>Geen zorgen over CAO- of wetswijzigingen</a:t>
            </a:r>
          </a:p>
          <a:p>
            <a:pPr>
              <a:buFont typeface="Arial" panose="020B0604020202020204" pitchFamily="34" charset="0"/>
              <a:buChar char="•"/>
            </a:pPr>
            <a:r>
              <a:rPr lang="nl-NL" sz="1600">
                <a:solidFill>
                  <a:schemeClr val="bg2">
                    <a:lumMod val="25000"/>
                  </a:schemeClr>
                </a:solidFill>
                <a:effectLst/>
              </a:rPr>
              <a:t>Geen sociale premies, loonbelastingen of pensioenpremies</a:t>
            </a:r>
          </a:p>
          <a:p>
            <a:pPr>
              <a:buFont typeface="Arial" panose="020B0604020202020204" pitchFamily="34" charset="0"/>
              <a:buChar char="•"/>
            </a:pPr>
            <a:r>
              <a:rPr lang="nl-NL" sz="1600">
                <a:solidFill>
                  <a:schemeClr val="bg2">
                    <a:lumMod val="25000"/>
                  </a:schemeClr>
                </a:solidFill>
                <a:effectLst/>
              </a:rPr>
              <a:t>Geen financiële risico’s of ziekteverzuimverzekering.</a:t>
            </a:r>
          </a:p>
        </p:txBody>
      </p:sp>
      <p:sp>
        <p:nvSpPr>
          <p:cNvPr id="6" name="Rechthoek 5"/>
          <p:cNvSpPr/>
          <p:nvPr/>
        </p:nvSpPr>
        <p:spPr>
          <a:xfrm>
            <a:off x="5856583" y="1794271"/>
            <a:ext cx="4985047" cy="2308324"/>
          </a:xfrm>
          <a:prstGeom prst="rect">
            <a:avLst/>
          </a:prstGeom>
        </p:spPr>
        <p:txBody>
          <a:bodyPr wrap="square">
            <a:spAutoFit/>
          </a:bodyPr>
          <a:lstStyle/>
          <a:p>
            <a:endParaRPr lang="nl-NL" sz="1600" b="1">
              <a:solidFill>
                <a:schemeClr val="bg2">
                  <a:lumMod val="25000"/>
                </a:schemeClr>
              </a:solidFill>
              <a:effectLst/>
            </a:endParaRPr>
          </a:p>
          <a:p>
            <a:r>
              <a:rPr lang="nl-NL" sz="1600">
                <a:solidFill>
                  <a:schemeClr val="bg2">
                    <a:lumMod val="25000"/>
                  </a:schemeClr>
                </a:solidFill>
                <a:effectLst/>
              </a:rPr>
              <a:t>Wij zorgen dat wij onze uitzendkrachten persoonlijk kennen. Dit maakt het mogelijk een optimale invulling te geven aan uw tijdelijke of langdurige vacatures. Door onze met zorg samengestelde actuele pool van uitzendkrachten is snel schakelen bij piekbelasting, vervanging van zieke medewerker of vakantieperiode geen enkel probleem. </a:t>
            </a:r>
          </a:p>
          <a:p>
            <a:endParaRPr lang="nl-NL" sz="1600">
              <a:solidFill>
                <a:schemeClr val="bg2">
                  <a:lumMod val="25000"/>
                </a:schemeClr>
              </a:solidFill>
            </a:endParaRPr>
          </a:p>
          <a:p>
            <a:r>
              <a:rPr lang="nl-NL" sz="1600">
                <a:solidFill>
                  <a:schemeClr val="bg2">
                    <a:lumMod val="25000"/>
                  </a:schemeClr>
                </a:solidFill>
                <a:effectLst/>
              </a:rPr>
              <a:t>Bij ons vindt u dé flexkracht die echt past bij uw bedrijf.</a:t>
            </a:r>
          </a:p>
        </p:txBody>
      </p:sp>
      <p:pic>
        <p:nvPicPr>
          <p:cNvPr id="8" name="Afbeelding 7"/>
          <p:cNvPicPr>
            <a:picLocks noChangeAspect="1"/>
          </p:cNvPicPr>
          <p:nvPr/>
        </p:nvPicPr>
        <p:blipFill>
          <a:blip r:embed="rId2"/>
          <a:stretch>
            <a:fillRect/>
          </a:stretch>
        </p:blipFill>
        <p:spPr>
          <a:xfrm>
            <a:off x="1404223" y="1440328"/>
            <a:ext cx="3810000" cy="4762500"/>
          </a:xfrm>
          <a:prstGeom prst="rect">
            <a:avLst/>
          </a:prstGeom>
          <a:effectLst>
            <a:outerShdw blurRad="50800" dist="50800" dir="5400000" algn="ctr" rotWithShape="0">
              <a:schemeClr val="bg2">
                <a:lumMod val="25000"/>
              </a:schemeClr>
            </a:outerShdw>
          </a:effectLst>
        </p:spPr>
      </p:pic>
      <p:sp>
        <p:nvSpPr>
          <p:cNvPr id="9" name="Rectangle 4"/>
          <p:cNvSpPr>
            <a:spLocks noChangeArrowheads="1"/>
          </p:cNvSpPr>
          <p:nvPr/>
        </p:nvSpPr>
        <p:spPr bwMode="auto">
          <a:xfrm flipV="1">
            <a:off x="1573330" y="951871"/>
            <a:ext cx="9939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6"/>
          <p:cNvSpPr>
            <a:spLocks noChangeArrowheads="1"/>
          </p:cNvSpPr>
          <p:nvPr/>
        </p:nvSpPr>
        <p:spPr bwMode="auto">
          <a:xfrm flipV="1">
            <a:off x="1404225" y="477375"/>
            <a:ext cx="824824"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a:ln>
                <a:noFill/>
              </a:ln>
              <a:solidFill>
                <a:srgbClr val="606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8"/>
          <p:cNvSpPr>
            <a:spLocks noChangeArrowheads="1"/>
          </p:cNvSpPr>
          <p:nvPr/>
        </p:nvSpPr>
        <p:spPr bwMode="auto">
          <a:xfrm flipV="1">
            <a:off x="1404223" y="935992"/>
            <a:ext cx="1234926" cy="457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31683" tIns="-196788" rIns="331683" bIns="0" numCol="1" anchor="ctr" anchorCtr="0" compatLnSpc="1">
            <a:prstTxWarp prst="textNoShape">
              <a:avLst/>
            </a:prstTxWarp>
            <a:spAutoFit/>
          </a:bodyPr>
          <a:lstStyle/>
          <a:p>
            <a:endParaRPr lang="en-US"/>
          </a:p>
        </p:txBody>
      </p:sp>
      <p:pic>
        <p:nvPicPr>
          <p:cNvPr id="12" name="Afbeelding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224" y="497830"/>
            <a:ext cx="1163037" cy="368050"/>
          </a:xfrm>
          <a:prstGeom prst="rect">
            <a:avLst/>
          </a:prstGeom>
        </p:spPr>
      </p:pic>
      <p:sp>
        <p:nvSpPr>
          <p:cNvPr id="14" name="Rechthoek 13"/>
          <p:cNvSpPr/>
          <p:nvPr/>
        </p:nvSpPr>
        <p:spPr>
          <a:xfrm>
            <a:off x="5800335" y="1440328"/>
            <a:ext cx="2382511" cy="461665"/>
          </a:xfrm>
          <a:prstGeom prst="rect">
            <a:avLst/>
          </a:prstGeom>
          <a:effectLst>
            <a:outerShdw blurRad="50800" dist="38100" dir="8100000" algn="tr" rotWithShape="0">
              <a:prstClr val="black">
                <a:alpha val="50000"/>
              </a:prstClr>
            </a:outerShdw>
          </a:effectLst>
        </p:spPr>
        <p:txBody>
          <a:bodyPr wrap="none">
            <a:spAutoFit/>
          </a:bodyPr>
          <a:lstStyle/>
          <a:p>
            <a:pPr algn="ctr"/>
            <a:r>
              <a:rPr lang="nl-NL" sz="2400" b="1" cap="none" spc="50">
                <a:ln w="0">
                  <a:solidFill>
                    <a:srgbClr val="787D7F"/>
                  </a:solidFill>
                </a:ln>
                <a:solidFill>
                  <a:schemeClr val="bg1"/>
                </a:solidFill>
                <a:effectLst>
                  <a:innerShdw blurRad="63500" dist="50800" dir="13500000">
                    <a:srgbClr val="000000">
                      <a:alpha val="50000"/>
                    </a:srgbClr>
                  </a:innerShdw>
                </a:effectLst>
              </a:rPr>
              <a:t>Uitzendkrachten</a:t>
            </a:r>
          </a:p>
        </p:txBody>
      </p:sp>
    </p:spTree>
    <p:extLst>
      <p:ext uri="{BB962C8B-B14F-4D97-AF65-F5344CB8AC3E}">
        <p14:creationId xmlns:p14="http://schemas.microsoft.com/office/powerpoint/2010/main" val="665458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21" y="2249532"/>
            <a:ext cx="12192000" cy="2540000"/>
          </a:xfrm>
          <a:prstGeom prst="rect">
            <a:avLst/>
          </a:prstGeom>
          <a:effectLst>
            <a:outerShdw blurRad="50800" dist="50800" dir="5400000" algn="ctr" rotWithShape="0">
              <a:schemeClr val="bg2">
                <a:lumMod val="25000"/>
              </a:schemeClr>
            </a:outerShdw>
          </a:effectLst>
        </p:spPr>
      </p:pic>
      <p:sp>
        <p:nvSpPr>
          <p:cNvPr id="2" name="Rechthoek 1"/>
          <p:cNvSpPr/>
          <p:nvPr/>
        </p:nvSpPr>
        <p:spPr>
          <a:xfrm>
            <a:off x="2859993" y="4895151"/>
            <a:ext cx="6096000" cy="1477328"/>
          </a:xfrm>
          <a:prstGeom prst="rect">
            <a:avLst/>
          </a:prstGeom>
        </p:spPr>
        <p:txBody>
          <a:bodyPr>
            <a:spAutoFit/>
          </a:bodyPr>
          <a:lstStyle/>
          <a:p>
            <a:pPr algn="ctr"/>
            <a:r>
              <a:rPr lang="en-US">
                <a:solidFill>
                  <a:schemeClr val="bg2">
                    <a:lumMod val="25000"/>
                  </a:schemeClr>
                </a:solidFill>
                <a:effectLst/>
              </a:rPr>
              <a:t>Selma Lagerlöfweg 63</a:t>
            </a:r>
            <a:br>
              <a:rPr lang="en-US">
                <a:solidFill>
                  <a:schemeClr val="bg2">
                    <a:lumMod val="25000"/>
                  </a:schemeClr>
                </a:solidFill>
                <a:effectLst/>
              </a:rPr>
            </a:br>
            <a:r>
              <a:rPr lang="en-US">
                <a:solidFill>
                  <a:schemeClr val="bg2">
                    <a:lumMod val="25000"/>
                  </a:schemeClr>
                </a:solidFill>
                <a:effectLst/>
              </a:rPr>
              <a:t>3069BT Rotterdam</a:t>
            </a:r>
          </a:p>
          <a:p>
            <a:pPr algn="ctr"/>
            <a:r>
              <a:rPr lang="en-US">
                <a:solidFill>
                  <a:schemeClr val="bg2">
                    <a:lumMod val="25000"/>
                  </a:schemeClr>
                </a:solidFill>
                <a:effectLst/>
              </a:rPr>
              <a:t>Tel: 010 760 08 57</a:t>
            </a:r>
            <a:br>
              <a:rPr lang="en-US">
                <a:solidFill>
                  <a:srgbClr val="98052C"/>
                </a:solidFill>
                <a:effectLst/>
              </a:rPr>
            </a:br>
            <a:endParaRPr lang="en-US">
              <a:solidFill>
                <a:srgbClr val="98052C"/>
              </a:solidFill>
              <a:effectLst/>
            </a:endParaRPr>
          </a:p>
          <a:p>
            <a:pPr algn="ctr"/>
            <a:r>
              <a:rPr lang="en-US">
                <a:solidFill>
                  <a:schemeClr val="bg2">
                    <a:lumMod val="25000"/>
                  </a:schemeClr>
                </a:solidFill>
                <a:effectLst/>
              </a:rPr>
              <a:t>Email:</a:t>
            </a:r>
            <a:r>
              <a:rPr lang="en-US">
                <a:solidFill>
                  <a:srgbClr val="98052C"/>
                </a:solidFill>
                <a:effectLst/>
              </a:rPr>
              <a:t> </a:t>
            </a:r>
            <a:r>
              <a:rPr lang="en-US">
                <a:solidFill>
                  <a:srgbClr val="98052C"/>
                </a:solidFill>
                <a:effectLst/>
                <a:hlinkClick r:id="rId3"/>
              </a:rPr>
              <a:t>info@lightpersoneelsdiensten.nl</a:t>
            </a:r>
            <a:endParaRPr lang="en-US">
              <a:solidFill>
                <a:srgbClr val="98052C"/>
              </a:solidFill>
              <a:effectLst/>
            </a:endParaRPr>
          </a:p>
        </p:txBody>
      </p:sp>
      <p:sp>
        <p:nvSpPr>
          <p:cNvPr id="6" name="Tekstvak 5"/>
          <p:cNvSpPr txBox="1"/>
          <p:nvPr/>
        </p:nvSpPr>
        <p:spPr>
          <a:xfrm>
            <a:off x="1123698" y="3990885"/>
            <a:ext cx="3499577" cy="461665"/>
          </a:xfrm>
          <a:prstGeom prst="rect">
            <a:avLst/>
          </a:prstGeom>
          <a:gradFill flip="none" rotWithShape="1">
            <a:gsLst>
              <a:gs pos="0">
                <a:schemeClr val="bg1">
                  <a:lumMod val="50000"/>
                  <a:alpha val="54000"/>
                </a:schemeClr>
              </a:gs>
              <a:gs pos="50000">
                <a:schemeClr val="dk1">
                  <a:lumMod val="105000"/>
                  <a:satMod val="103000"/>
                  <a:tint val="73000"/>
                </a:schemeClr>
              </a:gs>
              <a:gs pos="100000">
                <a:schemeClr val="dk1">
                  <a:lumMod val="105000"/>
                  <a:satMod val="109000"/>
                  <a:tint val="81000"/>
                </a:schemeClr>
              </a:gs>
            </a:gsLst>
            <a:lin ang="10800000" scaled="1"/>
            <a:tileRect/>
          </a:gradFill>
          <a:ln>
            <a:solidFill>
              <a:srgbClr val="787D7F"/>
            </a:solidFill>
          </a:ln>
          <a:effectLst>
            <a:outerShdw blurRad="50800" dist="50800" dir="5400000" algn="ctr" rotWithShape="0">
              <a:schemeClr val="bg2">
                <a:lumMod val="25000"/>
              </a:scheme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r>
              <a:rPr lang="nl-NL" sz="2400">
                <a:solidFill>
                  <a:schemeClr val="bg1"/>
                </a:solidFill>
                <a:latin typeface="Cambria" panose="02040503050406030204" pitchFamily="18" charset="0"/>
              </a:rPr>
              <a:t>Neem contact met ons op</a:t>
            </a:r>
            <a:endParaRPr lang="en-US" sz="2400">
              <a:solidFill>
                <a:schemeClr val="bg1"/>
              </a:solidFill>
              <a:latin typeface="Cambria" panose="02040503050406030204" pitchFamily="18" charset="0"/>
            </a:endParaRPr>
          </a:p>
        </p:txBody>
      </p:sp>
      <p:pic>
        <p:nvPicPr>
          <p:cNvPr id="7" name="Afbeelding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3698" y="2466676"/>
            <a:ext cx="3063742" cy="969539"/>
          </a:xfrm>
          <a:prstGeom prst="rect">
            <a:avLst/>
          </a:prstGeom>
        </p:spPr>
      </p:pic>
    </p:spTree>
    <p:extLst>
      <p:ext uri="{BB962C8B-B14F-4D97-AF65-F5344CB8AC3E}">
        <p14:creationId xmlns:p14="http://schemas.microsoft.com/office/powerpoint/2010/main" val="3015635653"/>
      </p:ext>
    </p:extLst>
  </p:cSld>
  <p:clrMapOvr>
    <a:masterClrMapping/>
  </p:clrMapOvr>
</p:sld>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64AEE8F91E4F4497AF28314A2B98BE" ma:contentTypeVersion="16" ma:contentTypeDescription="Een nieuw document maken." ma:contentTypeScope="" ma:versionID="e35fad9c8e1770926345b6e68bbcdc00">
  <xsd:schema xmlns:xsd="http://www.w3.org/2001/XMLSchema" xmlns:xs="http://www.w3.org/2001/XMLSchema" xmlns:p="http://schemas.microsoft.com/office/2006/metadata/properties" xmlns:ns2="1b7825ca-7a08-4f79-91c5-f7d19f827226" xmlns:ns3="777820d8-ac03-4b03-923a-6cbf9277b053" targetNamespace="http://schemas.microsoft.com/office/2006/metadata/properties" ma:root="true" ma:fieldsID="0ab04a872f49360aac680854d5b0759a" ns2:_="" ns3:_="">
    <xsd:import namespace="1b7825ca-7a08-4f79-91c5-f7d19f827226"/>
    <xsd:import namespace="777820d8-ac03-4b03-923a-6cbf9277b05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7825ca-7a08-4f79-91c5-f7d19f827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08a0e58f-8ac7-4d1d-83e6-04d9c469ef6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77820d8-ac03-4b03-923a-6cbf9277b053"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ceeb9d2a-9f90-444f-9183-737ae6f58cda}" ma:internalName="TaxCatchAll" ma:showField="CatchAllData" ma:web="777820d8-ac03-4b03-923a-6cbf9277b0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7825ca-7a08-4f79-91c5-f7d19f827226">
      <Terms xmlns="http://schemas.microsoft.com/office/infopath/2007/PartnerControls"/>
    </lcf76f155ced4ddcb4097134ff3c332f>
    <TaxCatchAll xmlns="777820d8-ac03-4b03-923a-6cbf9277b053" xsi:nil="true"/>
  </documentManagement>
</p:properties>
</file>

<file path=customXml/itemProps1.xml><?xml version="1.0" encoding="utf-8"?>
<ds:datastoreItem xmlns:ds="http://schemas.openxmlformats.org/officeDocument/2006/customXml" ds:itemID="{56B8BB2B-C622-48E9-970F-7F542BA59358}"/>
</file>

<file path=customXml/itemProps2.xml><?xml version="1.0" encoding="utf-8"?>
<ds:datastoreItem xmlns:ds="http://schemas.openxmlformats.org/officeDocument/2006/customXml" ds:itemID="{5E70DF26-C5D7-4CF2-899D-36C0C2C7EE0C}">
  <ds:schemaRefs>
    <ds:schemaRef ds:uri="http://schemas.microsoft.com/sharepoint/v3/contenttype/forms"/>
  </ds:schemaRefs>
</ds:datastoreItem>
</file>

<file path=customXml/itemProps3.xml><?xml version="1.0" encoding="utf-8"?>
<ds:datastoreItem xmlns:ds="http://schemas.openxmlformats.org/officeDocument/2006/customXml" ds:itemID="{C8576328-265E-4676-B979-A5BFCF12497C}">
  <ds:schemaRefs>
    <ds:schemaRef ds:uri="1b7825ca-7a08-4f79-91c5-f7d19f827226"/>
    <ds:schemaRef ds:uri="777820d8-ac03-4b03-923a-6cbf9277b05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Kantoorthema</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Sandra van Oorschot</dc:creator>
  <cp:revision>1</cp:revision>
  <dcterms:created xsi:type="dcterms:W3CDTF">2016-06-10T08:59:14Z</dcterms:created>
  <dcterms:modified xsi:type="dcterms:W3CDTF">2025-10-01T08:40:20Z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0x0101003364AEE8F91E4F4497AF28314A2B98BE</vt:lpwstr>
  </property>
  <property fmtid="{D5CDD505-2E9C-101B-9397-08002B2CF9AE}" pid="3" name="Order">
    <vt:r8>392600</vt:r8>
  </property>
  <property fmtid="{D5CDD505-2E9C-101B-9397-08002B2CF9AE}" pid="4" name="MediaServiceImageTags">
    <vt:lpwstr/>
  </property>
</Properties>
</file>